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tableStyles" Target="tableStyles.xml"/><Relationship Id="rId20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F767BD-A9EF-2730-14DA-D55479120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477308-519F-21E5-FC3E-E40A5B20B2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C25731-BB80-DE5D-CACF-DE1B0E620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EC0C86-B908-B5AA-4899-EBA62BD0EF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6CD7B3-53A9-7E57-4606-406BAECE2C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444E6-1319-7324-D69F-C4FCED0462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455EBB-C931-A591-B028-6FEEA84716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A83794-5530-C893-DAE0-6FFF351696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6BC83A-D767-DA30-6016-63F1FF762B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C880F3-7EF8-843E-9E90-B8DD0DBD45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474FB9-BE87-9DFC-A989-F79587EDAF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EB7E9F-37C1-DECD-2399-3C55201F69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2BC422-8A11-C8FD-1DBB-ACEA93D589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7086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567493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02152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501923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85119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2867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64173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0360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946975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27472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1457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28504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32397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810798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12690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984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74189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3025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08035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774116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23362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3034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77751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2300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30976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139817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77325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9014683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332791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1265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5461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92549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921886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5609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585705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291125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98098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446522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28739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88867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26720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10736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19185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403106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0770948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945469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334189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31551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2717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156243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27355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642573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09479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54993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644049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11061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777107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239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73088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03080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80812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535348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973950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89727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5976217" name="Rectangle 2"/>
          <p:cNvSpPr/>
          <p:nvPr/>
        </p:nvSpPr>
        <p:spPr bwMode="auto">
          <a:xfrm>
            <a:off x="0" y="6309360"/>
            <a:ext cx="12191695" cy="54864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9645836" name="TextBox 3"/>
          <p:cNvSpPr txBox="1"/>
          <p:nvPr/>
        </p:nvSpPr>
        <p:spPr bwMode="auto">
          <a:xfrm>
            <a:off x="822960" y="1645920"/>
            <a:ext cx="10571399" cy="29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800" b="1" i="0">
                <a:solidFill>
                  <a:srgbClr val="1D6F70"/>
                </a:solidFill>
                <a:latin typeface="Calibri"/>
              </a:rPr>
              <a:t>SDT 202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sz="3600" b="1" i="0">
                <a:solidFill>
                  <a:srgbClr val="FFFFFF"/>
                </a:solidFill>
                <a:latin typeface="Calibri"/>
              </a:rPr>
              <a:t>Gradient Descent Algorithm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RetentionRadar — initial presentation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sz="1200" b="0" i="0">
                <a:solidFill>
                  <a:srgbClr val="FFFFFF"/>
                </a:solidFill>
                <a:latin typeface="Calibri"/>
              </a:rPr>
              <a:t> 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sz="1800" b="1" i="0">
                <a:solidFill>
                  <a:srgbClr val="FFFFFF"/>
                </a:solidFill>
                <a:latin typeface="Calibri"/>
              </a:rPr>
              <a:t>Team 4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lang="pl-PL" sz="1600" b="0" i="0">
                <a:solidFill>
                  <a:srgbClr val="FFFFFF"/>
                </a:solidFill>
                <a:latin typeface="Calibri"/>
              </a:rPr>
              <a:t>Uliana Matviienko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 ·  </a:t>
            </a:r>
            <a:r>
              <a:rPr lang="pl-PL" sz="1600" b="0" i="0">
                <a:solidFill>
                  <a:srgbClr val="FFFFFF"/>
                </a:solidFill>
                <a:latin typeface="Calibri"/>
              </a:rPr>
              <a:t>Andrii Moroz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FFFFFF"/>
                </a:solidFill>
                <a:latin typeface="Calibri"/>
              </a:rPr>
              <a:t>Group </a:t>
            </a:r>
            <a:r>
              <a:rPr lang="pl-PL" sz="1400" b="0" i="0">
                <a:solidFill>
                  <a:srgbClr val="FFFFFF"/>
                </a:solidFill>
                <a:latin typeface="Calibri"/>
              </a:rPr>
              <a:t>BSEAI 2025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·  American University Kyiv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FFFFFF"/>
                </a:solidFill>
                <a:latin typeface="Calibri"/>
              </a:rPr>
              <a:t>Instructor: </a:t>
            </a:r>
            <a:r>
              <a:rPr lang="pl-PL" sz="1400" b="0" i="0">
                <a:solidFill>
                  <a:srgbClr val="FFFFFF"/>
                </a:solidFill>
                <a:latin typeface="Calibri"/>
              </a:rPr>
              <a:t>Dr. Valeriy Kolesnikov</a:t>
            </a:r>
            <a:endParaRPr/>
          </a:p>
        </p:txBody>
      </p:sp>
      <p:sp>
        <p:nvSpPr>
          <p:cNvPr id="968102267" name="TextBox 4"/>
          <p:cNvSpPr txBox="1"/>
          <p:nvPr/>
        </p:nvSpPr>
        <p:spPr bwMode="auto">
          <a:xfrm>
            <a:off x="82296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200" b="0" i="0">
                <a:solidFill>
                  <a:srgbClr val="FFFFFF"/>
                </a:solidFill>
                <a:latin typeface="Calibri"/>
              </a:rPr>
              <a:t>https://github.com/shalltearfrost/RetentionRadar   ·   1/13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59601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1218431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4482214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2330779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Agenda</a:t>
            </a:r>
            <a:endParaRPr/>
          </a:p>
        </p:txBody>
      </p:sp>
      <p:sp>
        <p:nvSpPr>
          <p:cNvPr id="851655021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Initial presentation scope from the course brief</a:t>
            </a:r>
            <a:endParaRPr/>
          </a:p>
        </p:txBody>
      </p:sp>
      <p:sp>
        <p:nvSpPr>
          <p:cNvPr id="621483728" name="TextBox 6"/>
          <p:cNvSpPr txBox="1"/>
          <p:nvPr/>
        </p:nvSpPr>
        <p:spPr bwMode="auto">
          <a:xfrm>
            <a:off x="838047" y="1371600"/>
            <a:ext cx="10521719" cy="186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Problem description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Classical / general algorithm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Pseudocode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Real-world situation (RetentionRadar)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Progress, repository, risks, next steps</a:t>
            </a:r>
            <a:endParaRPr/>
          </a:p>
        </p:txBody>
      </p:sp>
      <p:sp>
        <p:nvSpPr>
          <p:cNvPr id="269159378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1869752455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2/13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90101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1195105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3750977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6646890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1. Problem</a:t>
            </a:r>
            <a:endParaRPr/>
          </a:p>
        </p:txBody>
      </p:sp>
      <p:sp>
        <p:nvSpPr>
          <p:cNvPr id="439877313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Unconstrained smooth minimization</a:t>
            </a:r>
            <a:endParaRPr/>
          </a:p>
        </p:txBody>
      </p:sp>
      <p:sp>
        <p:nvSpPr>
          <p:cNvPr id="1004227705" name="TextBox 6"/>
          <p:cNvSpPr txBox="1"/>
          <p:nvPr/>
        </p:nvSpPr>
        <p:spPr bwMode="auto">
          <a:xfrm flipH="0" flipV="0">
            <a:off x="822960" y="1371599"/>
            <a:ext cx="4298400" cy="3255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Given a differentiable objective f : ℝᵈ → ℝ, find x that minimizes f(x)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Setting ∇f(x) = 0 often yields a nonlinear system with no closed form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Need a numerical method that uses only first-order information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Gradient descent: repeatedly step opposite the gradient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1" i="0">
                <a:solidFill>
                  <a:srgbClr val="24282E"/>
                </a:solidFill>
                <a:latin typeface="Calibri"/>
              </a:rPr>
              <a:t>• Negative gradient = steepest local descent direction (Euclidean norm)</a:t>
            </a:r>
            <a:endParaRPr/>
          </a:p>
        </p:txBody>
      </p:sp>
      <p:sp>
        <p:nvSpPr>
          <p:cNvPr id="95518031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1932883580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3/13</a:t>
            </a:r>
            <a:endParaRPr/>
          </a:p>
        </p:txBody>
      </p:sp>
      <p:pic>
        <p:nvPicPr>
          <p:cNvPr id="11825416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95847" y="2529000"/>
            <a:ext cx="1800000" cy="1800000"/>
          </a:xfrm>
          <a:prstGeom prst="rect">
            <a:avLst/>
          </a:prstGeom>
        </p:spPr>
      </p:pic>
      <p:pic>
        <p:nvPicPr>
          <p:cNvPr id="14189714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689415" y="1394049"/>
            <a:ext cx="5905600" cy="3233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84893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8523297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1361216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212252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2. Classical algorithm</a:t>
            </a:r>
            <a:endParaRPr/>
          </a:p>
        </p:txBody>
      </p:sp>
      <p:sp>
        <p:nvSpPr>
          <p:cNvPr id="1169625049" name="TextBox 6"/>
          <p:cNvSpPr txBox="1"/>
          <p:nvPr/>
        </p:nvSpPr>
        <p:spPr bwMode="auto">
          <a:xfrm flipH="0" flipV="0">
            <a:off x="822960" y="825083"/>
            <a:ext cx="5581407" cy="3454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Update rule: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1" i="0">
                <a:solidFill>
                  <a:srgbClr val="24282E"/>
                </a:solidFill>
                <a:latin typeface="Calibri"/>
              </a:rPr>
              <a:t>•       xₖ₊₁  =  xₖ  −  α · ∇f(xₖ)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α &gt; 0 is a fixed step size (learning rate)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“Batch” = each gradient uses the full objective / full dataset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Stop when ‖∇f(x)‖ is small, or after a maximum number of updates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If α is too large, iterates can diverge; if too small, progress is slow</a:t>
            </a:r>
            <a:endParaRPr sz="1800" b="0" i="0">
              <a:solidFill>
                <a:srgbClr val="24282E"/>
              </a:solidFill>
              <a:latin typeface="Calibri"/>
            </a:endParaRPr>
          </a:p>
          <a:p>
            <a:pPr>
              <a:spcAft>
                <a:spcPts val="799"/>
              </a:spcAft>
              <a:defRPr/>
            </a:pPr>
            <a:endParaRPr b="1"/>
          </a:p>
        </p:txBody>
      </p:sp>
      <p:sp>
        <p:nvSpPr>
          <p:cNvPr id="363583618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267919201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4/13</a:t>
            </a:r>
            <a:endParaRPr/>
          </a:p>
        </p:txBody>
      </p:sp>
      <p:pic>
        <p:nvPicPr>
          <p:cNvPr id="6709475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86095" y="195730"/>
            <a:ext cx="5905599" cy="3233268"/>
          </a:xfrm>
          <a:prstGeom prst="rect">
            <a:avLst/>
          </a:prstGeom>
        </p:spPr>
      </p:pic>
      <p:sp>
        <p:nvSpPr>
          <p:cNvPr id="1529888958" name=""/>
          <p:cNvSpPr txBox="1"/>
          <p:nvPr/>
        </p:nvSpPr>
        <p:spPr bwMode="auto">
          <a:xfrm rot="0" flipH="0" flipV="0">
            <a:off x="822960" y="3960004"/>
            <a:ext cx="10882079" cy="22600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Aft>
                <a:spcPts val="799"/>
              </a:spcAft>
              <a:defRPr/>
            </a:pPr>
            <a:r>
              <a:rPr lang="pl-PL" b="1"/>
              <a:t>Step size matters!</a:t>
            </a:r>
            <a:endParaRPr b="1"/>
          </a:p>
          <a:p>
            <a:pPr algn="l">
              <a:spcAft>
                <a:spcPts val="799"/>
              </a:spcAft>
              <a:defRPr/>
            </a:pPr>
            <a:r>
              <a:rPr lang="en-US" b="0" i="0" u="none" strike="noStrike" cap="none" spc="0">
                <a:solidFill>
                  <a:srgbClr val="24282E"/>
                </a:solidFill>
                <a:latin typeface="Calibri"/>
                <a:ea typeface="Calibri"/>
                <a:cs typeface="Calibri"/>
              </a:rPr>
              <a:t>• If ∇f is L-Lipschitz (L-smooth) and f is convex with a minimizer x*</a:t>
            </a:r>
            <a:endParaRPr sz="1800"/>
          </a:p>
          <a:p>
            <a:pPr algn="l">
              <a:spcAft>
                <a:spcPts val="799"/>
              </a:spcAft>
              <a:defRPr/>
            </a:pPr>
            <a:r>
              <a:rPr lang="en-US" b="0" i="0" u="none" strike="noStrike" cap="none" spc="0">
                <a:solidFill>
                  <a:srgbClr val="24282E"/>
                </a:solidFill>
                <a:latin typeface="Calibri"/>
                <a:ea typeface="Calibri"/>
                <a:cs typeface="Calibri"/>
              </a:rPr>
              <a:t>• Choose 0 &lt; α ≤ 1/L</a:t>
            </a:r>
            <a:endParaRPr sz="1800"/>
          </a:p>
          <a:p>
            <a:pPr algn="l">
              <a:spcAft>
                <a:spcPts val="799"/>
              </a:spcAft>
              <a:defRPr/>
            </a:pPr>
            <a:r>
              <a:rPr lang="en-US" b="1" i="0" u="none" strike="noStrike" cap="none" spc="0">
                <a:solidFill>
                  <a:srgbClr val="24282E"/>
                </a:solidFill>
                <a:latin typeface="Calibri"/>
                <a:ea typeface="Calibri"/>
                <a:cs typeface="Calibri"/>
              </a:rPr>
              <a:t>• Then:  f(xₖ) − f(x*)  ≤  ‖x₀ − x*‖² / (2 α k)   →   O(1/k)</a:t>
            </a:r>
            <a:endParaRPr sz="1800"/>
          </a:p>
          <a:p>
            <a:pPr algn="l">
              <a:spcAft>
                <a:spcPts val="799"/>
              </a:spcAft>
              <a:defRPr/>
            </a:pPr>
            <a:r>
              <a:rPr lang="en-US" b="0" i="0" u="none" strike="noStrike" cap="none" spc="0">
                <a:solidFill>
                  <a:srgbClr val="24282E"/>
                </a:solidFill>
                <a:latin typeface="Calibri"/>
                <a:ea typeface="Calibri"/>
                <a:cs typeface="Calibri"/>
              </a:rPr>
              <a:t>• Our program stops on gradient norm (not the same as objective-gap ε)</a:t>
            </a:r>
            <a:endParaRPr sz="1800"/>
          </a:p>
          <a:p>
            <a:pPr algn="l">
              <a:spcAft>
                <a:spcPts val="799"/>
              </a:spcAft>
              <a:defRPr/>
            </a:pPr>
            <a:r>
              <a:rPr lang="en-US" b="0" i="0" u="none" strike="noStrike" cap="none" spc="0">
                <a:solidFill>
                  <a:srgbClr val="24282E"/>
                </a:solidFill>
                <a:latin typeface="Calibri"/>
                <a:ea typeface="Calibri"/>
                <a:cs typeface="Calibri"/>
              </a:rPr>
              <a:t>• Complexity per iteration depends on the cost of ∇f (for logistic: Θ(m·d))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61156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3118340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7635477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7086317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3. Pseudocode</a:t>
            </a:r>
            <a:endParaRPr/>
          </a:p>
        </p:txBody>
      </p:sp>
      <p:sp>
        <p:nvSpPr>
          <p:cNvPr id="805287411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Matches GradientDescent.minimize in our Java code</a:t>
            </a:r>
            <a:endParaRPr/>
          </a:p>
        </p:txBody>
      </p:sp>
      <p:sp>
        <p:nvSpPr>
          <p:cNvPr id="1747242546" name="Rounded Rectangle 6"/>
          <p:cNvSpPr/>
          <p:nvPr/>
        </p:nvSpPr>
        <p:spPr bwMode="auto">
          <a:xfrm flipH="0" flipV="0">
            <a:off x="822960" y="1417320"/>
            <a:ext cx="5752449" cy="466344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GRADIENT-DESCENT(f, x0, alpha, tolerance, maxUpdates)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x ← copy(x0)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updates ← 0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repeat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value ← f(x)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if nonfinite(x/value) or magnitude-guard fails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    return DIVERGED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g ← ∇f(x)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if nonfinite(g) or nonfinite(‖g‖)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    return DIVERGED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if ‖g‖ ≤ tolerance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    return x, CONVERGED, updates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if updates = maxUpdates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    return x, MAX_ITERATIONS, updates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x ← x − alpha · g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400" b="0" i="0">
                <a:solidFill>
                  <a:srgbClr val="24282E"/>
                </a:solidFill>
                <a:latin typeface="Consolas"/>
              </a:rPr>
              <a:t>        updates ← updates + 1</a:t>
            </a:r>
            <a:endParaRPr/>
          </a:p>
        </p:txBody>
      </p:sp>
      <p:sp>
        <p:nvSpPr>
          <p:cNvPr id="873316803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1358944711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5/13</a:t>
            </a:r>
            <a:endParaRPr/>
          </a:p>
        </p:txBody>
      </p:sp>
      <p:sp>
        <p:nvSpPr>
          <p:cNvPr id="1830900133" name=""/>
          <p:cNvSpPr txBox="1"/>
          <p:nvPr/>
        </p:nvSpPr>
        <p:spPr bwMode="auto">
          <a:xfrm rot="0" flipH="0" flipV="0">
            <a:off x="6809631" y="1803219"/>
            <a:ext cx="4986565" cy="3891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Aft>
                <a:spcPts val="799"/>
              </a:spcAft>
              <a:defRPr/>
            </a:pPr>
            <a:r>
              <a:rPr b="0" i="0">
                <a:solidFill>
                  <a:srgbClr val="24282E"/>
                </a:solidFill>
                <a:latin typeface="Calibri"/>
              </a:rPr>
              <a:t>• Stopping test is before an update → optimal start needs 0 updates</a:t>
            </a:r>
            <a:endParaRPr/>
          </a:p>
          <a:p>
            <a:pPr algn="l">
              <a:spcAft>
                <a:spcPts val="799"/>
              </a:spcAft>
              <a:defRPr/>
            </a:pPr>
            <a:r>
              <a:rPr b="0" i="0">
                <a:solidFill>
                  <a:srgbClr val="24282E"/>
                </a:solidFill>
                <a:latin typeface="Calibri"/>
              </a:rPr>
              <a:t>• Also check the point produced by the final allowed update</a:t>
            </a:r>
            <a:endParaRPr/>
          </a:p>
          <a:p>
            <a:pPr algn="l">
              <a:spcAft>
                <a:spcPts val="799"/>
              </a:spcAft>
              <a:defRPr/>
            </a:pPr>
            <a:r>
              <a:rPr b="0" i="0">
                <a:solidFill>
                  <a:srgbClr val="24282E"/>
                </a:solidFill>
                <a:latin typeface="Calibri"/>
              </a:rPr>
              <a:t>• All coordinates share the same gradient vector g (true batch GD)</a:t>
            </a:r>
            <a:endParaRPr/>
          </a:p>
          <a:p>
            <a:pPr algn="l">
              <a:spcAft>
                <a:spcPts val="799"/>
              </a:spcAft>
              <a:defRPr/>
            </a:pPr>
            <a:r>
              <a:rPr b="0" i="0">
                <a:solidFill>
                  <a:srgbClr val="24282E"/>
                </a:solidFill>
                <a:latin typeface="Calibri"/>
              </a:rPr>
              <a:t>• Magnitude guard (practical): value &gt; 10⁶ · (|f(x₀)| + 1) → DIVERGED</a:t>
            </a:r>
            <a:endParaRPr/>
          </a:p>
          <a:p>
            <a:pPr algn="l">
              <a:spcAft>
                <a:spcPts val="799"/>
              </a:spcAft>
              <a:defRPr/>
            </a:pPr>
            <a:r>
              <a:rPr b="0" i="0">
                <a:solidFill>
                  <a:srgbClr val="24282E"/>
                </a:solidFill>
                <a:latin typeface="Calibri"/>
              </a:rPr>
              <a:t>• Java API: minimize(ObjectiveFunction, double[] x0, OptimizerConfig)</a:t>
            </a:r>
            <a:endParaRPr/>
          </a:p>
          <a:p>
            <a:pPr algn="l">
              <a:spcAft>
                <a:spcPts val="799"/>
              </a:spcAft>
              <a:defRPr/>
            </a:pPr>
            <a:r>
              <a:rPr b="0" i="0">
                <a:solidFill>
                  <a:srgbClr val="24282E"/>
                </a:solidFill>
                <a:latin typeface="Calibri"/>
              </a:rPr>
              <a:t>• Driver RetentionRadarApp calls GradientDescent.minimize(...)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6423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5582907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5839383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1489287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Worked example</a:t>
            </a:r>
            <a:endParaRPr/>
          </a:p>
        </p:txBody>
      </p:sp>
      <p:sp>
        <p:nvSpPr>
          <p:cNvPr id="395917307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f(x) = x²,  ∇f = 2x,  L = 2,  x₀ = 5</a:t>
            </a:r>
            <a:endParaRPr/>
          </a:p>
        </p:txBody>
      </p:sp>
      <p:sp>
        <p:nvSpPr>
          <p:cNvPr id="926839841" name="TextBox 6"/>
          <p:cNvSpPr txBox="1"/>
          <p:nvPr/>
        </p:nvSpPr>
        <p:spPr bwMode="auto">
          <a:xfrm>
            <a:off x="822960" y="1371600"/>
            <a:ext cx="10516320" cy="111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α = 0.1  →  5, 4, 3.2, 2.56, …  (contracts by 0.8 each step)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α = 0.9  →  oscillates while contracting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α = 1.1  →  magnitude grows (step too large vs 2/L)</a:t>
            </a:r>
            <a:endParaRPr/>
          </a:p>
        </p:txBody>
      </p:sp>
      <p:sp>
        <p:nvSpPr>
          <p:cNvPr id="2105314750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815035606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6/13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87148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139410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7526978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4850491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4. Real-world situation</a:t>
            </a:r>
            <a:endParaRPr/>
          </a:p>
        </p:txBody>
      </p:sp>
      <p:sp>
        <p:nvSpPr>
          <p:cNvPr id="424204511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RetentionRadar — educational early-warning demo</a:t>
            </a:r>
            <a:endParaRPr/>
          </a:p>
        </p:txBody>
      </p:sp>
      <p:sp>
        <p:nvSpPr>
          <p:cNvPr id="628003052" name="TextBox 6"/>
          <p:cNvSpPr txBox="1"/>
          <p:nvPr/>
        </p:nvSpPr>
        <p:spPr bwMode="auto"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Problem: estimate risk of eventual Dropout vs Graduate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Using information available by the end of semester one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Fit logistic regression by minimizing regularized logistic loss with GD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Practical value: rank held-out students so advisors know whom to review first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1" i="0">
                <a:solidFill>
                  <a:srgbClr val="24282E"/>
                </a:solidFill>
                <a:latin typeface="Calibri"/>
              </a:rPr>
              <a:t>• Real data: UCI “Predict Students’ Dropout and Academic Success” (dataset #697, Realinho et al.; CC BY 4.0) [3][4]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Our extract: 7 first-semester features; 4,424 rows; Enrolled dropped at load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Also: seeded synthetic cohort for offline demos without the CSV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1" i="0">
                <a:solidFill>
                  <a:srgbClr val="24282E"/>
                </a:solidFill>
                <a:latin typeface="Calibri"/>
              </a:rPr>
              <a:t>• Limits: educational prototype — not AUK operational data or causal proof</a:t>
            </a:r>
            <a:endParaRPr/>
          </a:p>
        </p:txBody>
      </p:sp>
      <p:sp>
        <p:nvSpPr>
          <p:cNvPr id="1534306724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1973937057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7/13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37454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8652535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088161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943475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Data source (citation)</a:t>
            </a:r>
            <a:endParaRPr/>
          </a:p>
        </p:txBody>
      </p:sp>
      <p:sp>
        <p:nvSpPr>
          <p:cNvPr id="1774667414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What UCI #697 is, in one slide</a:t>
            </a:r>
            <a:endParaRPr/>
          </a:p>
        </p:txBody>
      </p:sp>
      <p:sp>
        <p:nvSpPr>
          <p:cNvPr id="1015810119" name="TextBox 6"/>
          <p:cNvSpPr txBox="1"/>
          <p:nvPr/>
        </p:nvSpPr>
        <p:spPr bwMode="auto"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Public dataset from the UCI Machine Learning Repository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Full name: Predict Students’ Dropout and Academic Success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Authors: Realinho, Vieira Martins, Machado, Baptista (and related Data 2022 paper)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Labels: Dropout / Graduate / Enrolled (we keep Dropout vs Graduate only)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Licence: Creative Commons Attribution 4.0 (CC BY 4.0) — attribute + note changes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Project file: data/students-first-semester.csv (+ DATA-SOURCE.md attribution)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URL: archive.ics.uci.edu/dataset/697/…  (see References slide)</a:t>
            </a:r>
            <a:endParaRPr/>
          </a:p>
        </p:txBody>
      </p:sp>
      <p:sp>
        <p:nvSpPr>
          <p:cNvPr id="1386489871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1143062282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8/13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64593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3674347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2477041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6785279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How the Java program uses the algorithm</a:t>
            </a:r>
            <a:endParaRPr/>
          </a:p>
        </p:txBody>
      </p:sp>
      <p:sp>
        <p:nvSpPr>
          <p:cNvPr id="867965941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Main program must call the algorithm function</a:t>
            </a:r>
            <a:endParaRPr/>
          </a:p>
        </p:txBody>
      </p:sp>
      <p:sp>
        <p:nvSpPr>
          <p:cNvPr id="230175056" name="TextBox 6"/>
          <p:cNvSpPr txBox="1"/>
          <p:nvPr/>
        </p:nvSpPr>
        <p:spPr bwMode="auto"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LogisticObjective implements ObjectiveFunction (value + gradient)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RetentionRadarApp prepares data → calls GradientDescent.minimize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Then scores held-out records, metrics, and optional ranking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Packages: optimization / model / data / app / verify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Stack: plain Java 17, IntelliJ, no external libraries</a:t>
            </a:r>
            <a:endParaRPr/>
          </a:p>
        </p:txBody>
      </p:sp>
      <p:sp>
        <p:nvSpPr>
          <p:cNvPr id="1497292087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414720119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9/13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47031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5380270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4660810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5247110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Progress for week 8 (initial)</a:t>
            </a:r>
            <a:endParaRPr/>
          </a:p>
        </p:txBody>
      </p:sp>
      <p:sp>
        <p:nvSpPr>
          <p:cNvPr id="1531728195" name="TextBox 6"/>
          <p:cNvSpPr txBox="1"/>
          <p:nvPr/>
        </p:nvSpPr>
        <p:spPr bwMode="auto">
          <a:xfrm>
            <a:off x="822960" y="1371600"/>
            <a:ext cx="10553399" cy="31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Done / in progress toward the initial deliverable: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 b="0" i="0">
                <a:solidFill>
                  <a:srgbClr val="24282E"/>
                </a:solidFill>
                <a:latin typeface="Calibri"/>
              </a:rPr>
              <a:t>    ◦ Classical GD implemented as a reusable Java function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 b="0" i="0">
                <a:solidFill>
                  <a:srgbClr val="24282E"/>
                </a:solidFill>
                <a:latin typeface="Calibri"/>
              </a:rPr>
              <a:t>    ◦ Real-world logistic application wired to call that function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 b="0" i="0">
                <a:solidFill>
                  <a:srgbClr val="24282E"/>
                </a:solidFill>
                <a:latin typeface="Calibri"/>
              </a:rPr>
              <a:t>    ◦ Public GitHub repository + IntelliJ project structure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 b="0" i="0">
                <a:solidFill>
                  <a:srgbClr val="24282E"/>
                </a:solidFill>
                <a:latin typeface="Calibri"/>
              </a:rPr>
              <a:t>    ◦ Report draft + these slides for Canvas (24h before talk)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Still for later / final: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 b="0" i="0">
                <a:solidFill>
                  <a:srgbClr val="24282E"/>
                </a:solidFill>
                <a:latin typeface="Calibri"/>
              </a:rPr>
              <a:t>    ◦ Improved algorithm (Nesterov), full screenshots, comments</a:t>
            </a:r>
            <a:r>
              <a:rPr lang="pl-PL" sz="1600" b="0" i="0">
                <a:solidFill>
                  <a:srgbClr val="24282E"/>
                </a:solidFill>
                <a:latin typeface="Calibri"/>
              </a:rPr>
              <a:t> </a:t>
            </a:r>
            <a:r>
              <a:rPr sz="1600" b="0" i="0">
                <a:solidFill>
                  <a:srgbClr val="24282E"/>
                </a:solidFill>
                <a:latin typeface="Calibri"/>
              </a:rPr>
              <a:t>polish</a:t>
            </a:r>
            <a:endParaRPr sz="1600" b="0" i="0">
              <a:solidFill>
                <a:srgbClr val="24282E"/>
              </a:solidFill>
              <a:latin typeface="Calibri"/>
            </a:endParaRPr>
          </a:p>
          <a:p>
            <a:pPr>
              <a:spcAft>
                <a:spcPts val="799"/>
              </a:spcAft>
              <a:defRPr/>
            </a:pPr>
            <a:r>
              <a:rPr lang="pl-PL" sz="1600" b="0" i="0">
                <a:solidFill>
                  <a:srgbClr val="24282E"/>
                </a:solidFill>
                <a:latin typeface="Calibri"/>
              </a:rPr>
              <a:t>    </a:t>
            </a:r>
            <a:r>
              <a:rPr lang="en-US" sz="1600" b="0" i="0" u="none" strike="noStrike" cap="none" spc="0">
                <a:solidFill>
                  <a:srgbClr val="24282E"/>
                </a:solidFill>
                <a:latin typeface="Calibri"/>
                <a:ea typeface="Calibri"/>
                <a:cs typeface="Calibri"/>
              </a:rPr>
              <a:t>◦</a:t>
            </a:r>
            <a:r>
              <a:rPr lang="pl-PL" sz="1600" b="0" i="0" u="none" strike="noStrike" cap="none" spc="0">
                <a:solidFill>
                  <a:srgbClr val="24282E"/>
                </a:solidFill>
                <a:latin typeface="Calibri"/>
                <a:ea typeface="Calibri"/>
                <a:cs typeface="Calibri"/>
              </a:rPr>
              <a:t> GUI and algorithms visualisations</a:t>
            </a:r>
            <a:endParaRPr sz="1600" b="0" i="0">
              <a:solidFill>
                <a:srgbClr val="24282E"/>
              </a:solidFill>
              <a:latin typeface="Calibri"/>
            </a:endParaRPr>
          </a:p>
          <a:p>
            <a:pPr>
              <a:spcAft>
                <a:spcPts val="800"/>
              </a:spcAft>
              <a:defRPr/>
            </a:pPr>
            <a:r>
              <a:rPr sz="1600" b="0" i="0">
                <a:solidFill>
                  <a:srgbClr val="24282E"/>
                </a:solidFill>
                <a:latin typeface="Calibri"/>
              </a:rPr>
              <a:t>    ◦ Final report parts, abstract, effort analysis, live demo polish</a:t>
            </a:r>
            <a:endParaRPr sz="1600" b="0" i="0">
              <a:solidFill>
                <a:srgbClr val="24282E"/>
              </a:solidFill>
              <a:latin typeface="Calibri"/>
            </a:endParaRPr>
          </a:p>
        </p:txBody>
      </p:sp>
      <p:sp>
        <p:nvSpPr>
          <p:cNvPr id="2145182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429505563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10/13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34006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6546846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8419406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9635529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Project risks</a:t>
            </a:r>
            <a:endParaRPr/>
          </a:p>
        </p:txBody>
      </p:sp>
      <p:sp>
        <p:nvSpPr>
          <p:cNvPr id="281461535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Called out for the initial presentation</a:t>
            </a:r>
            <a:endParaRPr/>
          </a:p>
        </p:txBody>
      </p:sp>
      <p:sp>
        <p:nvSpPr>
          <p:cNvPr id="134335558" name="TextBox 6"/>
          <p:cNvSpPr txBox="1"/>
          <p:nvPr/>
        </p:nvSpPr>
        <p:spPr bwMode="auto"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Step size too large → non-finite loss / divergence (mitigate with safe α = 1/B)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Ill-conditioned features → many iterations (standardize using training only)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Feature timing misunderstanding → invalid “early warning” claims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Single split oversold as deployment performance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Repo visibility / clickable link / contribution evidence before final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 i="0">
                <a:solidFill>
                  <a:srgbClr val="24282E"/>
                </a:solidFill>
                <a:latin typeface="Calibri"/>
              </a:rPr>
              <a:t>• Schedule pressure — start early; rehearse with both members speaking</a:t>
            </a:r>
            <a:endParaRPr/>
          </a:p>
        </p:txBody>
      </p:sp>
      <p:sp>
        <p:nvSpPr>
          <p:cNvPr id="1444396115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301643887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11/13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46072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8160315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8740046" name="Rectangle 3"/>
          <p:cNvSpPr/>
          <p:nvPr/>
        </p:nvSpPr>
        <p:spPr bwMode="auto">
          <a:xfrm>
            <a:off x="548640" y="411480"/>
            <a:ext cx="109728" cy="502920"/>
          </a:xfrm>
          <a:prstGeom prst="rect">
            <a:avLst/>
          </a:prstGeom>
          <a:solidFill>
            <a:srgbClr val="1D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4398127" name="TextBox 4"/>
          <p:cNvSpPr txBox="1"/>
          <p:nvPr/>
        </p:nvSpPr>
        <p:spPr bwMode="auto"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1" i="0">
                <a:solidFill>
                  <a:srgbClr val="1B2A41"/>
                </a:solidFill>
                <a:latin typeface="Calibri"/>
              </a:rPr>
              <a:t>References</a:t>
            </a:r>
            <a:endParaRPr/>
          </a:p>
        </p:txBody>
      </p:sp>
      <p:sp>
        <p:nvSpPr>
          <p:cNvPr id="2089805403" name="TextBox 5"/>
          <p:cNvSpPr txBox="1"/>
          <p:nvPr/>
        </p:nvSpPr>
        <p:spPr bwMode="auto"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0" i="0">
                <a:solidFill>
                  <a:srgbClr val="5C6570"/>
                </a:solidFill>
                <a:latin typeface="Calibri"/>
              </a:rPr>
              <a:t>Cited in this presentation</a:t>
            </a:r>
            <a:endParaRPr/>
          </a:p>
        </p:txBody>
      </p:sp>
      <p:sp>
        <p:nvSpPr>
          <p:cNvPr id="1123882234" name="TextBox 6"/>
          <p:cNvSpPr txBox="1"/>
          <p:nvPr/>
        </p:nvSpPr>
        <p:spPr bwMode="auto"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500" b="0" i="0">
                <a:solidFill>
                  <a:srgbClr val="24282E"/>
                </a:solidFill>
                <a:latin typeface="Calibri"/>
              </a:rPr>
              <a:t>• [1] Tibshirani R. Gradient Descent (CMU convex opt. notes).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 b="0" i="0">
                <a:solidFill>
                  <a:srgbClr val="24282E"/>
                </a:solidFill>
                <a:latin typeface="Calibri"/>
              </a:rPr>
              <a:t>• [2] Su, Boyd, Candes. ODE analysis of Nesterov’s accelerated gradient.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 b="0" i="0">
                <a:solidFill>
                  <a:srgbClr val="24282E"/>
                </a:solidFill>
                <a:latin typeface="Calibri"/>
              </a:rPr>
              <a:t>• [3] Realinho V. et al. Predict Students’ Dropout and Academic Success. UCI ML Repository, dataset #697. https://archive.ics.uci.edu/dataset/697/predict+students+dropout+and+academic+success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 b="0" i="0">
                <a:solidFill>
                  <a:srgbClr val="24282E"/>
                </a:solidFill>
                <a:latin typeface="Calibri"/>
              </a:rPr>
              <a:t>• [4] Realinho et al. Predicting Student Dropout and Academic Success. Data 2022, 7(11), 146. https://www.mdpi.com/2306-5729/7/11/146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 b="0" i="0">
                <a:solidFill>
                  <a:srgbClr val="24282E"/>
                </a:solidFill>
                <a:latin typeface="Calibri"/>
              </a:rPr>
              <a:t>• [5] Shalizi C. Logistic Regression (CMU lecture notes).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 b="0" i="0">
                <a:solidFill>
                  <a:srgbClr val="24282E"/>
                </a:solidFill>
                <a:latin typeface="Calibri"/>
              </a:rPr>
              <a:t>• [6] Creative Commons Attribution 4.0 (CC BY 4.0).</a:t>
            </a:r>
            <a:endParaRPr/>
          </a:p>
        </p:txBody>
      </p:sp>
      <p:sp>
        <p:nvSpPr>
          <p:cNvPr id="1489900080" name="TextBox 7"/>
          <p:cNvSpPr txBox="1"/>
          <p:nvPr/>
        </p:nvSpPr>
        <p:spPr bwMode="auto"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SDT 202 · Team 4 · Initial presentation · https://github.com/shalltearfrost/RetentionRadar</a:t>
            </a:r>
            <a:endParaRPr/>
          </a:p>
        </p:txBody>
      </p:sp>
      <p:sp>
        <p:nvSpPr>
          <p:cNvPr id="1651674287" name="TextBox 8"/>
          <p:cNvSpPr txBox="1"/>
          <p:nvPr/>
        </p:nvSpPr>
        <p:spPr bwMode="auto"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100" b="0" i="0">
                <a:solidFill>
                  <a:srgbClr val="5C6570"/>
                </a:solidFill>
                <a:latin typeface="Calibri"/>
              </a:rPr>
              <a:t>12/13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69814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8312775" name="TextBox 2"/>
          <p:cNvSpPr txBox="1"/>
          <p:nvPr/>
        </p:nvSpPr>
        <p:spPr bwMode="auto">
          <a:xfrm>
            <a:off x="822960" y="2194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  <a:endParaRPr/>
          </a:p>
          <a:p>
            <a:pPr algn="ctr">
              <a:spcAft>
                <a:spcPts val="600"/>
              </a:spcAft>
              <a:defRPr/>
            </a:pPr>
            <a:r>
              <a:rPr sz="2400" b="0" i="0">
                <a:solidFill>
                  <a:srgbClr val="FFFFFF"/>
                </a:solidFill>
                <a:latin typeface="Calibri"/>
              </a:rPr>
              <a:t>Questions?</a:t>
            </a:r>
            <a:endParaRPr/>
          </a:p>
          <a:p>
            <a:pPr algn="ctr">
              <a:spcAft>
                <a:spcPts val="600"/>
              </a:spcAft>
              <a:defRPr/>
            </a:pPr>
            <a:r>
              <a:rPr sz="1200" b="0" i="0">
                <a:solidFill>
                  <a:srgbClr val="FFFFFF"/>
                </a:solidFill>
                <a:latin typeface="Calibri"/>
              </a:rPr>
              <a:t> </a:t>
            </a:r>
            <a:endParaRPr/>
          </a:p>
          <a:p>
            <a:pPr algn="ctr">
              <a:spcAft>
                <a:spcPts val="600"/>
              </a:spcAft>
              <a:defRPr/>
            </a:pPr>
            <a:r>
              <a:rPr sz="1600" b="0" i="0">
                <a:solidFill>
                  <a:srgbClr val="FFFFFF"/>
                </a:solidFill>
                <a:latin typeface="Calibri"/>
              </a:rPr>
              <a:t>Team 4 · Uliana Matviienko · Andrii Moroz · https://github.com/shalltearfrost/RetentionRadar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2026-10-20T01:03:03Z</dcterms:modified>
  <cp:category/>
</cp:coreProperties>
</file>